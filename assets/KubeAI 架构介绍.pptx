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介绍我独立研发的KubeAI平台。这是一个基于Go语言和Kubernetes构建的轻量级、生产级云原生AI平台。本次分享将深入解析其整体架构、核心模块以及设计理念，希望能为大家展示一个完整的MLOps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围绕五个核心部分展开。首先，我会介绍项目的背景和定位，阐述它解决了哪些行业痛点。接着，会详细介绍平台所采用的核心技术栈。然后，也是本次分享的重点，我会深入解析系统的整体架构。之后，将逐一介绍三大核心模块的功能。最后，总结项目的亮点与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介绍平台之前，我们先看看当前AI工程化领域普遍存在的痛点。首先，现有的开源工具如Kubeflow过于庞大和复杂，部署和维护成本高。其次，算法团队的工作流往往是割裂的，从训练到部署需要手动操作多个环节，效率很低。最后，缺乏一个统一的平台来管理所有AI相关的资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针对这些问题，我设计并开发了KubeAI平台，它定位为一个轻量级、生产级的云原生AI平台，旨在打通从模型到服务的全链路。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KubeAI平台的技术选型紧跟云原生社区的主流。后端开发完全基于Go语言，利用其高性能和对云原生的友好性。我们使用Gin作为HTTP框架，GORM作为ORM框架。在云原生层面，我们深度使用了Kubernetes，特别是通过Kubebuilder开发了自定义的CRD和Operator来扩展K8s的能力。存储方面，使用PostgreSQL存储元数据，MinIO存储模型文件。最后，通过Prometheus和Grafana实现了全面的可观测性，并集成了JWT和RBAC保证系统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这是KubeAI平台的整体架构图。整个架构非常清晰，从上到下分为接入层、服务层、编排层和基础设施层。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用户通过统一的API网关访问平台的三大核心服务：模型管理、推理网关和任务调度。这三大服务通过Kubernetes的CRD机制，将用户的声明式意图转化为实际运行的K8s资源，如Deployment和Job。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所有状态和数据都持久化到PostgreSQL和MinIO中，同时平台的运行状态会被Prometheus监控。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核心数据流分为训练和推理两条线，实现了从模型训练到部署的全自动化。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模型管理服务。它的定位是替代MLflow，为平台提供一个统一的模型仓库。它的核心功能包括模型的注册和版本控制，确保每个模型版本都可追溯。我们使用PostgreSQL存储模型的元数据和性能指标，使用MinIO存储实际的模型文件。此外，它还负责将训练任务和推理服务关联起来，形成完整的数据血缘关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接下来是推理服务网关，这是平台的核心亮点之一。它是一个基于Kubebuilder开发的Kubernetes Operator。用户只需要编写一个简单的InferenceService自定义资源文件，Operator就能自动完成所有底层资源的创建和管理，包括Deployment、Service和Ingress。更重要的是，它内置了灰度发布和基于HPA的弹性伸缩能力，让服务治理变得非常简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最后是任务调度服务。它同样是基于CRD实现的，用户通过`TrainingJob`资源提交训练任务。服务会负责创建K8s Job来执行训练，并实时同步任务状态。我们还提供了日志拉取接口，方便用户调试。最关键的是，训练完成后，模型会自动上传到模型管理服务，实现了训练到部署的无缝衔接。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KubeAI平台的核心亮点主要有四个。首先，全自研的CRD和Operator，这体现了对Kubernetes的深度理解和二次开发能力。其次，实现了从训练到推理的全链路自动化，这是平台的核心价值所在。第三，平台内置了灰度发布、弹性伸缩等企业级能力，具备了直接用于生产环境的潜力。最后，整个平台非常轻量，没有复杂的依赖，兼容性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项目的价值体现在三个层面。技术上，它帮助开发者掌握了Go云原生开发和K8s二次开发的核心技能。与现有工具相比，它比MLflow更云原生，比Kubeflow更轻量。业务上，它能极大地提升算法团队的工作效率，降低AI应用的落地门槛。对于求职而言，这是一个非常硬核的项目，能够充分展示候选人的平台设计和工程实现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KubeAI平台目前已经是一个功能完整、架构清晰的云原生AI平台，覆盖了MLOps的核心环节。当然，它还有很大的提升空间。未来，我计划增加对分布式训练的支持，开发一个Web控制台，并进一步优化服务的性能和稳定性，比如加入模型预热和限流熔断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4" Type="http://schemas.openxmlformats.org/officeDocument/2006/relationships/notesSlide" Target="../notesSlides/notesSlide4.xml"/><Relationship Id="rId33" Type="http://schemas.openxmlformats.org/officeDocument/2006/relationships/slideLayout" Target="../slideLayouts/slideLayout12.xml"/><Relationship Id="rId32" Type="http://schemas.openxmlformats.org/officeDocument/2006/relationships/tags" Target="../tags/tag24.xml"/><Relationship Id="rId31" Type="http://schemas.openxmlformats.org/officeDocument/2006/relationships/tags" Target="../tags/tag23.xml"/><Relationship Id="rId30" Type="http://schemas.openxmlformats.org/officeDocument/2006/relationships/tags" Target="../tags/tag22.xml"/><Relationship Id="rId3" Type="http://schemas.openxmlformats.org/officeDocument/2006/relationships/tags" Target="../tags/tag3.xml"/><Relationship Id="rId29" Type="http://schemas.openxmlformats.org/officeDocument/2006/relationships/image" Target="../media/image16.svg"/><Relationship Id="rId28" Type="http://schemas.openxmlformats.org/officeDocument/2006/relationships/image" Target="../media/image15.png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image" Target="../media/image14.svg"/><Relationship Id="rId20" Type="http://schemas.openxmlformats.org/officeDocument/2006/relationships/image" Target="../media/image13.png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0.sv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2.svg"/><Relationship Id="rId11" Type="http://schemas.openxmlformats.org/officeDocument/2006/relationships/image" Target="../media/image21.png"/><Relationship Id="rId10" Type="http://schemas.openxmlformats.org/officeDocument/2006/relationships/image" Target="../media/image20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40.svg"/><Relationship Id="rId1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42.sv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.svg"/><Relationship Id="rId1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6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0.svg"/><Relationship Id="rId1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635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KubeAI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3429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自研云原生AI平台架构解析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318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699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14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刘广</a:t>
            </a:r>
            <a:endParaRPr lang="zh-CN" altLang="en-US" sz="14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520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2026年4月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0" y="2032000"/>
            <a:ext cx="3556000" cy="3302000"/>
          </a:xfrm>
          <a:prstGeom prst="roundRect">
            <a:avLst>
              <a:gd name="adj" fmla="val 7692"/>
            </a:avLst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0" y="2667000"/>
            <a:ext cx="2032000" cy="1651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0" y="457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spc="2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MLOps SOLUTION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841500"/>
            <a:ext cx="889000" cy="889000"/>
          </a:xfrm>
          <a:prstGeom prst="ellipse">
            <a:avLst/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2032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413000" y="1841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项目背景与定位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2286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深度剖析行业核心痛点，明确项目立项初衷与解决方案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70000" y="3365500"/>
            <a:ext cx="889000" cy="889000"/>
          </a:xfrm>
          <a:prstGeom prst="ellipse">
            <a:avLst/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70000" y="3556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413000" y="3365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核心技术栈选型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413000" y="3810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主流平台开发框架搭建，云原生技术架构的深度实践与应用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699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270000" y="4889500"/>
            <a:ext cx="889000" cy="889000"/>
          </a:xfrm>
          <a:prstGeom prst="ellipse">
            <a:avLst/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270000" y="5080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413000" y="4889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系统架构深度解析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413000" y="5334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展示系统分层设计模型，详解核心数据在各模块间的流转链路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841500"/>
            <a:ext cx="889000" cy="889000"/>
          </a:xfrm>
          <a:prstGeom prst="ellipse">
            <a:avLst/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032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0" y="1841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核心功能模块详解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0" y="2286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聚焦模型管理中心、高性能推理网关、分布式任务智能调度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3175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3365500"/>
            <a:ext cx="889000" cy="889000"/>
          </a:xfrm>
          <a:prstGeom prst="ellipse">
            <a:avLst/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3556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0" y="3365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功能亮点与业务价值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0" y="3810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总结项目核心技术优势，展望业务落地后的实际应用前景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49530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本次分享将围绕以上五个核心维度，为您全方位解读项目的技术架构与商业落地逻辑。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项目背景与定位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953000" cy="1397000"/>
          </a:xfrm>
          <a:prstGeom prst="roundRect">
            <a:avLst>
              <a:gd name="adj" fmla="val 1090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06500" y="1841500"/>
            <a:ext cx="762000" cy="762000"/>
          </a:xfrm>
          <a:prstGeom prst="ellipse">
            <a:avLst/>
          </a:prstGeom>
          <a:solidFill>
            <a:srgbClr val="E0F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4300" y="20193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159000" y="1841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工具过重 · Heavy Tools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159000" y="2286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MLflow、Kubeflow等开源工具部署复杂，定制化难度高，运维成本大，不适合快速迭代的中小团队。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4953000" cy="1397000"/>
          </a:xfrm>
          <a:prstGeom prst="roundRect">
            <a:avLst>
              <a:gd name="adj" fmla="val 1090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06500" y="3492500"/>
            <a:ext cx="762000" cy="762000"/>
          </a:xfrm>
          <a:prstGeom prst="ellipse">
            <a:avLst/>
          </a:prstGeom>
          <a:solidFill>
            <a:srgbClr val="E0F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300" y="36703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159000" y="3492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流程割裂 · Fragmented Process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159000" y="3937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模型训练、部署、监控全流程脱节，需手动操作K8s资源，人工介入多，导致算法落地效率低下。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953000"/>
            <a:ext cx="4953000" cy="1397000"/>
          </a:xfrm>
          <a:prstGeom prst="roundRect">
            <a:avLst>
              <a:gd name="adj" fmla="val 1090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206500" y="5143500"/>
            <a:ext cx="762000" cy="762000"/>
          </a:xfrm>
          <a:prstGeom prst="ellipse">
            <a:avLst/>
          </a:prstGeom>
          <a:solidFill>
            <a:srgbClr val="E0F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4300" y="53213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159000" y="5143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缺乏管控 · No Central Control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159000" y="5588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资产、任务、服务分散管理，缺乏统一的平台进行资源调度、权限认证和全链路监控，管理成本高。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4826000" cy="4699000"/>
          </a:xfrm>
          <a:prstGeom prst="roundRect">
            <a:avLst>
              <a:gd name="adj" fmla="val 4324"/>
            </a:avLst>
          </a:prstGeom>
          <a:solidFill>
            <a:srgbClr val="F0FCFE">
              <a:alpha val="100000"/>
            </a:srgbClr>
          </a:solidFill>
          <a:ln w="12700" cap="flat" cmpd="sng">
            <a:solidFill>
              <a:srgbClr val="00BC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04000" y="203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spc="200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POSITIONING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2603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一款</a:t>
            </a:r>
            <a:r>
              <a:rPr lang="en-US" sz="20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 · 生产级 · 全自研</a:t>
            </a:r>
            <a:b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的云原生 AI 平台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3810000"/>
            <a:ext cx="4064000" cy="25400"/>
          </a:xfrm>
          <a:prstGeom prst="roundRect">
            <a:avLst>
              <a:gd name="adj" fmla="val 0"/>
            </a:avLst>
          </a:prstGeom>
          <a:solidFill>
            <a:srgbClr val="00BCD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04000" y="4127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旨在覆盖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模型管理、离线训练、在线推理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全流程，作为重型MLOps组件的替代方案，帮助企业快速构建AI工程化能力。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5334000"/>
            <a:ext cx="4064000" cy="635000"/>
          </a:xfrm>
          <a:prstGeom prst="roundRect">
            <a:avLst>
              <a:gd name="adj" fmla="val 2400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500" y="54737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66000" y="54864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无缝适配企业现有 K8s 集群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核心技术栈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1016000" y="1651000"/>
            <a:ext cx="4953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270000" y="1968500"/>
            <a:ext cx="812800" cy="8128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200" y="21717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2336800" y="1968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后端开发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2336800" y="2476500"/>
            <a:ext cx="508000" cy="381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2336800" y="2730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语言：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Go 1.25.3+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框架：Go-zero / GORM / Viper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K8s客户端：client-go / Kubebuilder / Controller-Runtime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6223000" y="1651000"/>
            <a:ext cx="4953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6477000" y="1968500"/>
            <a:ext cx="812800" cy="8128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80200" y="21717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7543800" y="1968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云原生核心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7543800" y="2476500"/>
            <a:ext cx="508000" cy="381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7543800" y="2730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编排：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Kubernetes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扩展：CRD / Operator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核心资源：Deployment / Service / Ingress-Nginx / HPA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1016000" y="4064000"/>
            <a:ext cx="4953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1270000" y="4381500"/>
            <a:ext cx="812800" cy="8128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473200" y="45847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2336800" y="4381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存储与中间件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2336800" y="4889500"/>
            <a:ext cx="508000" cy="381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2336800" y="5143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元数据：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PostgreSQL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模型：MinIO (S3兼容)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高性能缓存与分布式锁：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Redis</a:t>
            </a:r>
            <a:endParaRPr lang="en-US" sz="1200" b="1" i="0" u="none" strike="noStrike">
              <a:solidFill>
                <a:srgbClr val="00BC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6223000" y="4064000"/>
            <a:ext cx="4953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6477000" y="4381500"/>
            <a:ext cx="812800" cy="8128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680200" y="45847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30"/>
            </p:custDataLst>
          </p:nvPr>
        </p:nvSpPr>
        <p:spPr>
          <a:xfrm>
            <a:off x="7543800" y="4381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可观测与安全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7543800" y="4889500"/>
            <a:ext cx="508000" cy="381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32"/>
            </p:custDataLst>
          </p:nvPr>
        </p:nvSpPr>
        <p:spPr>
          <a:xfrm>
            <a:off x="7543800" y="5143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监控：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Prometheus + Grafana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日志：结构化日志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认证鉴权：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JWT + RBAC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权限控制体系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系统架构解析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5080000" cy="4445000"/>
          </a:xfrm>
          <a:prstGeom prst="roundRect">
            <a:avLst>
              <a:gd name="adj" fmla="val 4571"/>
            </a:avLst>
          </a:prstGeom>
          <a:solidFill>
            <a:srgbClr val="F7F9F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平台核心架构分层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70000" y="2413000"/>
            <a:ext cx="457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460500" y="2603500"/>
            <a:ext cx="508000" cy="508000"/>
          </a:xfrm>
          <a:prstGeom prst="ellipse">
            <a:avLst/>
          </a:prstGeom>
          <a:solidFill>
            <a:srgbClr val="E0FC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" y="2705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25400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接入层 Access Layer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159000" y="292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统一API网关入口，承接用户与算法工程师的所有请求分发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70000" y="3429000"/>
            <a:ext cx="457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460500" y="3619500"/>
            <a:ext cx="508000" cy="508000"/>
          </a:xfrm>
          <a:prstGeom prst="ellipse">
            <a:avLst/>
          </a:prstGeom>
          <a:solidFill>
            <a:srgbClr val="E0FC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2100" y="37211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159000" y="35560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核心服务层 Core Service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159000" y="3937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模型管理 / 推理服务网关 / 任务调度三大微服务协同工作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70000" y="4445000"/>
            <a:ext cx="457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460500" y="4635500"/>
            <a:ext cx="508000" cy="508000"/>
          </a:xfrm>
          <a:prstGeom prst="ellipse">
            <a:avLst/>
          </a:prstGeom>
          <a:solidFill>
            <a:srgbClr val="E0FC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2100" y="4737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159000" y="45720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编排层 Orchestration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159000" y="4953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基于K8s CRD将声明式意图转化为Deployment、Job等运行资源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270000" y="5461000"/>
            <a:ext cx="4572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460500" y="5562600"/>
            <a:ext cx="304800" cy="304800"/>
          </a:xfrm>
          <a:prstGeom prst="ellipse">
            <a:avLst/>
          </a:prstGeom>
          <a:solidFill>
            <a:srgbClr val="E0FC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300" y="5613400"/>
            <a:ext cx="203200" cy="203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905000" y="5562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基础设施：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PG元数据 / MinIO存储 / Prometheus监控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1651000"/>
            <a:ext cx="4826000" cy="203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0" y="1651000"/>
            <a:ext cx="4826000" cy="508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604000" y="1968500"/>
            <a:ext cx="609600" cy="609600"/>
          </a:xfrm>
          <a:prstGeom prst="ellipse">
            <a:avLst/>
          </a:prstGeom>
          <a:solidFill>
            <a:srgbClr val="00BC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56400" y="21209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93000" y="1968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核心训练流 Training Flow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2794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用户提交训练任务 ➜ 任务调度服务生成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 Job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➜ 任务执行完成 ➜ 模型自动归档至 MinIO 与模型管理服务。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3937000"/>
            <a:ext cx="4826000" cy="21590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350000" y="3937000"/>
            <a:ext cx="4826000" cy="508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604000" y="4254500"/>
            <a:ext cx="609600" cy="609600"/>
          </a:xfrm>
          <a:prstGeom prst="ellipse">
            <a:avLst/>
          </a:prstGeom>
          <a:solidFill>
            <a:srgbClr val="00BC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56400" y="44069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493000" y="4254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核心推理流 Inference Flow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604000" y="5080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创建推理服务 ➜ 网关拉取模型 ➜ K8s 集群部署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Deployment + Service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➜ 自动配置服务发现与弹性伸缩 ➜ 对外提供低延迟 API。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核心模块详解 (1/3) - 模型管理服务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889000"/>
          </a:xfrm>
          <a:prstGeom prst="roundRect">
            <a:avLst>
              <a:gd name="adj" fmla="val 17142"/>
            </a:avLst>
          </a:prstGeom>
          <a:solidFill>
            <a:srgbClr val="00BCD4">
              <a:alpha val="10000"/>
            </a:srgbClr>
          </a:solidFill>
          <a:ln cap="flat" cmpd="sng">
            <a:solidFill>
              <a:srgbClr val="00A5B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651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全面替代 MLflow，为 AI 平台提供标准化、企业级的模型全生命周期管理能力，解决模型版本混乱、资产沉淀难的问题。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4953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2984500"/>
            <a:ext cx="762000" cy="762000"/>
          </a:xfrm>
          <a:prstGeom prst="ellipse">
            <a:avLst/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0500" y="3175000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286000" y="292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模型注册与版本控制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86000" y="3429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支持模型一键上传与多版本迭代，灵活管理模型状态（Active/Archived），确保版本可追溯。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667000"/>
            <a:ext cx="4953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2984500"/>
            <a:ext cx="762000" cy="762000"/>
          </a:xfrm>
          <a:prstGeom prst="ellipse">
            <a:avLst/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3175000"/>
            <a:ext cx="381000" cy="381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93000" y="292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多维元数据管理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493000" y="3429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结构化存储模型性能指标（Accuracy/Loss）与业务标签，支持基于任意字段的快速检索与筛选。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572000"/>
            <a:ext cx="4953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270000" y="4889500"/>
            <a:ext cx="762000" cy="762000"/>
          </a:xfrm>
          <a:prstGeom prst="ellipse">
            <a:avLst/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0500" y="5080000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286000" y="4826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分布式模型文件存储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286000" y="5334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MinIO 构建高可用对象存储服务，兼容 S3 协议，支持海量模型文件的持久化存储与快速下载。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572000"/>
            <a:ext cx="4953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4889500"/>
            <a:ext cx="762000" cy="762000"/>
          </a:xfrm>
          <a:prstGeom prst="ellipse">
            <a:avLst/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5080000"/>
            <a:ext cx="381000" cy="381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93000" y="4826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全链路血缘关联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93000" y="5334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自动关联上游训练任务（Job）与下游推理服务（Service），形成完整的数据血缘闭环，便于问题排查。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核心模块详解 (2/3) - 推理服务网关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1016000"/>
          </a:xfrm>
          <a:prstGeom prst="roundRect">
            <a:avLst>
              <a:gd name="adj" fmla="val 15000"/>
            </a:avLst>
          </a:prstGeom>
          <a:solidFill>
            <a:srgbClr val="00BC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17272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1651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Kubernetes Operator 技术架构，实现对推理服务全生命周期的声明式管理，简化服务部署与运维流程。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6200" y="30607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159000" y="2921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 CRD 声明式定义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`InferenceService` CRD 资源，用户仅需编写 YAML 配置文件，即可直观地描述推理服务的期望状态。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2794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279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3200" y="30607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66000" y="2921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 资源自动化编排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Operator 控制器自动监听资源变化，一键创建 Deployment、Service、Ingress 等底层 K8s 资源，实现服务零侵入部署。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4445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4445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6200" y="47117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159000" y="4572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基于权重的灰度发布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深度集成 Nginx Ingress Canary 功能，支持按照流量权重比例进行精细化切分，确保新版本上线过程的平滑与安全。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445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4445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3200" y="47117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66000" y="4572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HPA 智能弹性伸缩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自动配置 Horizontal Pod Autoscaler，基于 CPU 利用率等核心指标，实现服务实例的自动扩容与缩容，优化资源成本。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核心模块详解 (3/3) - 任务调度服务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889000"/>
          </a:xfrm>
          <a:prstGeom prst="roundRect">
            <a:avLst>
              <a:gd name="adj" fmla="val 17142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1714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1676400"/>
            <a:ext cx="889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统一管理所有离线训练任务，通过标准化流程实现从任务提交到产出的全链路自动化。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953000" cy="1651000"/>
          </a:xfrm>
          <a:prstGeom prst="roundRect">
            <a:avLst>
              <a:gd name="adj" fmla="val 9230"/>
            </a:avLst>
          </a:prstGeom>
          <a:solidFill>
            <a:srgbClr val="F7F9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76200" cy="1651000"/>
          </a:xfrm>
          <a:prstGeom prst="roundRect">
            <a:avLst>
              <a:gd name="adj" fmla="val 20000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9845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286000" y="292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CRD 自定义任务提交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86000" y="3429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K8s CRD 定义 `TrainingJob` 资源，原生支持 PyTorch、TensorFlow 等主流深度学习框架的任务提交。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667000"/>
            <a:ext cx="4953000" cy="1651000"/>
          </a:xfrm>
          <a:prstGeom prst="roundRect">
            <a:avLst>
              <a:gd name="adj" fmla="val 9230"/>
            </a:avLst>
          </a:prstGeom>
          <a:solidFill>
            <a:srgbClr val="F7F9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2667000"/>
            <a:ext cx="76200" cy="1651000"/>
          </a:xfrm>
          <a:prstGeom prst="roundRect">
            <a:avLst>
              <a:gd name="adj" fmla="val 20000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9845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493000" y="292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全生命周期状态管控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493000" y="3429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自动创建 K8s Job 执行训练逻辑，实时同步任务的 pending、running、succeeded、failed 等全量状态。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572000"/>
            <a:ext cx="4953000" cy="1651000"/>
          </a:xfrm>
          <a:prstGeom prst="roundRect">
            <a:avLst>
              <a:gd name="adj" fmla="val 9230"/>
            </a:avLst>
          </a:prstGeom>
          <a:solidFill>
            <a:srgbClr val="F7F9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572000"/>
            <a:ext cx="76200" cy="1651000"/>
          </a:xfrm>
          <a:prstGeom prst="roundRect">
            <a:avLst>
              <a:gd name="adj" fmla="val 20000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7000" y="4889500"/>
            <a:ext cx="635000" cy="635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286000" y="4826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实时日志与指标监控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286000" y="5334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 HTTP 接口拉取训练实时日志，并将任务运行时长、成功率等核心指标暴露给 Prometheus 进行可视化监控。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572000"/>
            <a:ext cx="4953000" cy="1651000"/>
          </a:xfrm>
          <a:prstGeom prst="roundRect">
            <a:avLst>
              <a:gd name="adj" fmla="val 9230"/>
            </a:avLst>
          </a:prstGeom>
          <a:solidFill>
            <a:srgbClr val="F7F9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23000" y="4572000"/>
            <a:ext cx="76200" cy="1651000"/>
          </a:xfrm>
          <a:prstGeom prst="roundRect">
            <a:avLst>
              <a:gd name="adj" fmla="val 20000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4889500"/>
            <a:ext cx="635000" cy="635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493000" y="4826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模型产物自动注册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493000" y="5334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当训练任务成功结束后，自动将产出的模型文件上传至模型管理服务，打通“训练-模型库”的流程闭环。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核心功能亮点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953000" cy="2032000"/>
          </a:xfrm>
          <a:prstGeom prst="roundRect">
            <a:avLst>
              <a:gd name="adj" fmla="val 75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2032000"/>
            <a:ext cx="1016000" cy="10160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" y="2286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540000" y="2032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全自研CRD与Operator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540000" y="2603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深度扩展Kubernetes，实现声明式API，完美体现云原生架构的核心编排能力。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4953000" cy="2032000"/>
          </a:xfrm>
          <a:prstGeom prst="roundRect">
            <a:avLst>
              <a:gd name="adj" fmla="val 75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2032000"/>
            <a:ext cx="1016000" cy="10160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2286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747000" y="2032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全链路自动化闭环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747000" y="2603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打通“训练→入库→部署→灰度”完整链路，实现一站式闭环管理，极大提升研发效率。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937000"/>
            <a:ext cx="4953000" cy="2032000"/>
          </a:xfrm>
          <a:prstGeom prst="roundRect">
            <a:avLst>
              <a:gd name="adj" fmla="val 75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270000" y="4318000"/>
            <a:ext cx="1016000" cy="10160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4000" y="4572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540000" y="4318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企业级生产能力内置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540000" y="4889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内置灰度发布、弹性伸缩、权限管控与全链路可观测性，开箱即达企业生产级标准。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937000"/>
            <a:ext cx="4953000" cy="2032000"/>
          </a:xfrm>
          <a:prstGeom prst="roundRect">
            <a:avLst>
              <a:gd name="adj" fmla="val 75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4318000"/>
            <a:ext cx="1016000" cy="10160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4572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747000" y="4318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极致轻量化与高兼容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747000" y="4889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无重型第三方依赖，部署包体积小，可轻松适配并部署在任何标准Kubernetes集群上。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项目价值与对比优势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0FCF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1968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2095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技术价值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6370">
            <a:off x="1270015" y="2787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C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270000" y="30480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深度掌握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Go云原生开发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K8s二次开发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Operator模式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三大核心工程技能。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4318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独立完成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MLOps平台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的架构设计与落地实现，具备完整的平台工程化建设能力。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1651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0FCF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1968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24500" y="2095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对比优势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6370">
            <a:off x="4762515" y="2787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C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762500" y="3048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VS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MLflow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：更彻底的云原生化，深度集成K8s生态，提供完整的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推理服务管理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762500" y="4318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VS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Kubeflow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：架构更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轻量精简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，易于维护与定制开发，完美规避组件臃肿问题。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1651000"/>
            <a:ext cx="3175000" cy="4191000"/>
          </a:xfrm>
          <a:prstGeom prst="roundRect">
            <a:avLst>
              <a:gd name="adj" fmla="val 4800"/>
            </a:avLst>
          </a:prstGeom>
          <a:solidFill>
            <a:srgbClr val="F0FCF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968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2095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业务价值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6370">
            <a:off x="8255015" y="2787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C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255000" y="3175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为算法团队提供</a:t>
            </a:r>
            <a:r>
              <a:rPr lang="en-US" sz="1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“一键式”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模型训练、服务部署与灰度发布能力，大幅降低AI应用落地门槛。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55000" y="4826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显著缩短业务上线周期，有效降低系统运维与迭代成本。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699000" cy="4445000"/>
          </a:xfrm>
          <a:prstGeom prst="roundRect">
            <a:avLst>
              <a:gd name="adj" fmla="val 4571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90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 / SUMMARY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70000" y="2540000"/>
            <a:ext cx="4191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460500" y="2794000"/>
            <a:ext cx="711200" cy="711200"/>
          </a:xfrm>
          <a:prstGeom prst="ellipse">
            <a:avLst/>
          </a:prstGeom>
          <a:solidFill>
            <a:srgbClr val="00BC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12900" y="29464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349500" y="2730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核心成果交付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成功构建了一个</a:t>
            </a:r>
            <a:r>
              <a:rPr lang="en-US" sz="11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功能完整、架构清晰、符合生产标准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的云原生AI平台底座。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70000" y="4000500"/>
            <a:ext cx="4191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460500" y="4254500"/>
            <a:ext cx="711200" cy="711200"/>
          </a:xfrm>
          <a:prstGeom prst="ellipse">
            <a:avLst/>
          </a:prstGeom>
          <a:solidFill>
            <a:srgbClr val="00BCD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2900" y="44069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349500" y="419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全生命周期闭环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打通了</a:t>
            </a:r>
            <a:r>
              <a:rPr lang="en-US" sz="11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模型管理、离线训练、在线推理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三大核心环节，实现MLOps全流程自动化。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270000" y="546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KubeAI 已具备企业级 AI 平台的落地能力 ”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1651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后续规划 / ROADMAP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2286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2540000"/>
            <a:ext cx="762000" cy="762000"/>
          </a:xfrm>
          <a:prstGeom prst="ellipse">
            <a:avLst/>
          </a:prstGeom>
          <a:solidFill>
            <a:srgbClr val="00BC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800" y="2717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02500" y="2476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核心功能增强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深度集成 PyTorchJob 实现分布式训练，完善多租户资源隔离策略，满足团队协作需求。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096000" y="3683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0" y="3937000"/>
            <a:ext cx="762000" cy="762000"/>
          </a:xfrm>
          <a:prstGeom prst="ellipse">
            <a:avLst/>
          </a:prstGeom>
          <a:solidFill>
            <a:srgbClr val="00BC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800" y="41148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02500" y="3873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交互体验升级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开发可视化 Web UI 控制台，整合日志监控与资源看板，大幅降低用户操作与运维门槛。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096000" y="5080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350000" y="5334000"/>
            <a:ext cx="762000" cy="762000"/>
          </a:xfrm>
          <a:prstGeom prst="ellipse">
            <a:avLst/>
          </a:prstGeom>
          <a:solidFill>
            <a:srgbClr val="00BCD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27800" y="55118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02500" y="5270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性能与稳定性优化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引入模型预热、服务滚动升级及限流熔断机制，保障高并发场景下的服务高可用性。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413000"/>
            <a:ext cx="1016000" cy="762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3048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064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95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QUESTIONS &amp; ANSWERS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3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4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5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6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7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8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9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0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1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2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3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4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5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6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7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8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19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0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1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2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3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ags/tag24.xml><?xml version="1.0" encoding="utf-8"?>
<p:tagLst xmlns:p="http://schemas.openxmlformats.org/presentationml/2006/main">
  <p:tag name="KSO_WM_DIAGRAM_VIRTUALLY_FRAME" val="{&quot;height&quot;:360,&quot;left&quot;:80,&quot;top&quot;:130,&quot;width&quot;:8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3107</Words>
  <Application>WPS 演示</Application>
  <PresentationFormat/>
  <Paragraphs>237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WPS_1591323531</cp:lastModifiedBy>
  <cp:revision>3</cp:revision>
  <dcterms:created xsi:type="dcterms:W3CDTF">2026-04-23T14:00:19Z</dcterms:created>
  <dcterms:modified xsi:type="dcterms:W3CDTF">2026-04-23T14:10:45Z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1EF38EC89185426FB8549D51F2D9BBC6_12</vt:lpwstr>
  </property>
  <property fmtid="{D5CDD505-2E9C-101B-9397-08002B2CF9AE}" pid="3" name="KSOProductBuildVer">
    <vt:lpwstr>2052-12.1.0.25225</vt:lpwstr>
  </property>
</Properties>
</file>